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46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7" r:id="rId8"/>
    <p:sldId id="279" r:id="rId9"/>
    <p:sldId id="280" r:id="rId10"/>
    <p:sldId id="281" r:id="rId11"/>
    <p:sldId id="282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43624-5B62-44E3-923D-58BC634B85AF}" v="231" dt="2025-12-16T12:15:08.229"/>
    <p1510:client id="{4698891A-CA7D-43D8-A35C-685788D4F45B}" v="144" dt="2025-12-16T14:42:48.840"/>
    <p1510:client id="{B09A0B33-6AAF-4CE8-9357-3E7C5746FF84}" v="721" dt="2025-12-16T11:47:57.6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4473" y="2387530"/>
            <a:ext cx="14553142" cy="5490726"/>
          </a:xfrm>
        </p:spPr>
        <p:txBody>
          <a:bodyPr anchor="b"/>
          <a:lstStyle>
            <a:lvl1pPr>
              <a:defRPr sz="127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473" y="7878254"/>
            <a:ext cx="14553142" cy="142054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6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5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5" y="4719210"/>
            <a:ext cx="14553141" cy="3159044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473" y="7878255"/>
            <a:ext cx="14553142" cy="1418863"/>
          </a:xfrm>
        </p:spPr>
        <p:txBody>
          <a:bodyPr anchor="t"/>
          <a:lstStyle>
            <a:lvl1pPr marL="0" indent="0" algn="l">
              <a:buNone/>
              <a:defRPr sz="3555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3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19316" y="3398042"/>
            <a:ext cx="7249380" cy="691912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4024" y="3390649"/>
            <a:ext cx="7249383" cy="692651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6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9317" y="3141486"/>
            <a:ext cx="7249378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19316" y="4146762"/>
            <a:ext cx="7249380" cy="617040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4027" y="3141486"/>
            <a:ext cx="7249380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4027" y="4146762"/>
            <a:ext cx="7249380" cy="617040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9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6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0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69" y="2387530"/>
            <a:ext cx="5608213" cy="2387529"/>
          </a:xfrm>
        </p:spPr>
        <p:txBody>
          <a:bodyPr anchor="b"/>
          <a:lstStyle>
            <a:lvl1pPr algn="l">
              <a:defRPr sz="4266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9633" y="2387529"/>
            <a:ext cx="8567983" cy="7539567"/>
          </a:xfrm>
        </p:spPr>
        <p:txBody>
          <a:bodyPr anchor="ctr">
            <a:normAutofit/>
          </a:bodyPr>
          <a:lstStyle>
            <a:lvl1pPr>
              <a:defRPr sz="3555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0" y="5160415"/>
            <a:ext cx="5608211" cy="4775057"/>
          </a:xfrm>
        </p:spPr>
        <p:txBody>
          <a:bodyPr/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2744" y="3057700"/>
            <a:ext cx="8397990" cy="2596975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59512" y="1884892"/>
            <a:ext cx="5277326" cy="75395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6031653"/>
            <a:ext cx="8384918" cy="2261870"/>
          </a:xfrm>
        </p:spPr>
        <p:txBody>
          <a:bodyPr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5" y="7916524"/>
            <a:ext cx="14553141" cy="934593"/>
          </a:xfrm>
        </p:spPr>
        <p:txBody>
          <a:bodyPr anchor="b">
            <a:normAutofit/>
          </a:bodyPr>
          <a:lstStyle>
            <a:lvl1pPr algn="l">
              <a:defRPr sz="4266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04473" y="1130935"/>
            <a:ext cx="14553142" cy="600372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4" y="8851116"/>
            <a:ext cx="14553139" cy="814168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7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2" y="2387529"/>
            <a:ext cx="14553144" cy="3267146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6031653"/>
            <a:ext cx="14553144" cy="3895443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8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782" y="2387529"/>
            <a:ext cx="13190537" cy="3831416"/>
          </a:xfrm>
        </p:spPr>
        <p:txBody>
          <a:bodyPr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3183150" y="6218945"/>
            <a:ext cx="12003838" cy="56427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4472" y="7174556"/>
            <a:ext cx="14553144" cy="2764508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81251" y="1601668"/>
            <a:ext cx="1322319" cy="3429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8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85589" y="4310328"/>
            <a:ext cx="1322319" cy="3429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21688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543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471" y="5152039"/>
            <a:ext cx="14553146" cy="272621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472" y="7878255"/>
            <a:ext cx="14553144" cy="1418863"/>
          </a:xfrm>
        </p:spPr>
        <p:txBody>
          <a:bodyPr anchor="t"/>
          <a:lstStyle>
            <a:lvl1pPr marL="0" indent="0" algn="l">
              <a:buNone/>
              <a:defRPr sz="3555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06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703" y="3267145"/>
            <a:ext cx="4859259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75884" y="4398081"/>
            <a:ext cx="4827078" cy="591908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3993" y="3267145"/>
            <a:ext cx="4841739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386590" y="4398081"/>
            <a:ext cx="4859141" cy="591908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48334" y="3267145"/>
            <a:ext cx="4834932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748334" y="4398081"/>
            <a:ext cx="4834932" cy="591908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144253" y="3518465"/>
            <a:ext cx="0" cy="653429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480422" y="3518465"/>
            <a:ext cx="0" cy="65416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0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74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884" y="7010130"/>
            <a:ext cx="4848020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75884" y="3644124"/>
            <a:ext cx="4848020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75884" y="7960430"/>
            <a:ext cx="4848020" cy="1087051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3418" y="7010130"/>
            <a:ext cx="4832314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413416" y="3644124"/>
            <a:ext cx="4832314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411186" y="7960428"/>
            <a:ext cx="4838713" cy="1087051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48334" y="7010130"/>
            <a:ext cx="4834932" cy="950299"/>
          </a:xfrm>
        </p:spPr>
        <p:txBody>
          <a:bodyPr anchor="b">
            <a:noAutofit/>
          </a:bodyPr>
          <a:lstStyle>
            <a:lvl1pPr marL="0" indent="0">
              <a:buNone/>
              <a:defRPr sz="4266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748333" y="3644124"/>
            <a:ext cx="4834932" cy="25131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764" indent="0">
              <a:buNone/>
              <a:defRPr sz="2844"/>
            </a:lvl2pPr>
            <a:lvl3pPr marL="1625529" indent="0">
              <a:buNone/>
              <a:defRPr sz="2844"/>
            </a:lvl3pPr>
            <a:lvl4pPr marL="2438293" indent="0">
              <a:buNone/>
              <a:defRPr sz="2844"/>
            </a:lvl4pPr>
            <a:lvl5pPr marL="3251058" indent="0">
              <a:buNone/>
              <a:defRPr sz="2844"/>
            </a:lvl5pPr>
            <a:lvl6pPr marL="4063822" indent="0">
              <a:buNone/>
              <a:defRPr sz="2844"/>
            </a:lvl6pPr>
            <a:lvl7pPr marL="4876587" indent="0">
              <a:buNone/>
              <a:defRPr sz="2844"/>
            </a:lvl7pPr>
            <a:lvl8pPr marL="5689351" indent="0">
              <a:buNone/>
              <a:defRPr sz="2844"/>
            </a:lvl8pPr>
            <a:lvl9pPr marL="6502116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748128" y="7960425"/>
            <a:ext cx="4841337" cy="1087051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764" indent="0">
              <a:buNone/>
              <a:defRPr sz="2133"/>
            </a:lvl2pPr>
            <a:lvl3pPr marL="1625529" indent="0">
              <a:buNone/>
              <a:defRPr sz="1778"/>
            </a:lvl3pPr>
            <a:lvl4pPr marL="2438293" indent="0">
              <a:buNone/>
              <a:defRPr sz="1600"/>
            </a:lvl4pPr>
            <a:lvl5pPr marL="3251058" indent="0">
              <a:buNone/>
              <a:defRPr sz="1600"/>
            </a:lvl5pPr>
            <a:lvl6pPr marL="4063822" indent="0">
              <a:buNone/>
              <a:defRPr sz="1600"/>
            </a:lvl6pPr>
            <a:lvl7pPr marL="4876587" indent="0">
              <a:buNone/>
              <a:defRPr sz="1600"/>
            </a:lvl7pPr>
            <a:lvl8pPr marL="5689351" indent="0">
              <a:buNone/>
              <a:defRPr sz="1600"/>
            </a:lvl8pPr>
            <a:lvl9pPr marL="650211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6144253" y="3518465"/>
            <a:ext cx="0" cy="6534291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480422" y="3518465"/>
            <a:ext cx="0" cy="65416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23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90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93300" y="709454"/>
            <a:ext cx="2889966" cy="9607712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5885" y="1463412"/>
            <a:ext cx="12240463" cy="88537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3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402509"/>
            <a:ext cx="6656865" cy="69068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769695"/>
            <a:ext cx="2510394" cy="3900807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4195902" y="2764508"/>
            <a:ext cx="4649073" cy="4649399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3190698" y="1"/>
            <a:ext cx="2643918" cy="1882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4190734" y="10052756"/>
            <a:ext cx="1638626" cy="125659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211517" y="0"/>
            <a:ext cx="1130856" cy="1884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411" y="746565"/>
            <a:ext cx="15507996" cy="23095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9317" y="3385415"/>
            <a:ext cx="14752473" cy="6918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6746169" y="2953017"/>
            <a:ext cx="1633571" cy="50260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95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4760548" y="5318772"/>
            <a:ext cx="6365088" cy="5026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95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7070908" y="487680"/>
            <a:ext cx="1382155" cy="1265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53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 txBox="1"/>
          <p:nvPr/>
        </p:nvSpPr>
        <p:spPr>
          <a:xfrm>
            <a:off x="2857422" y="9007475"/>
            <a:ext cx="13764260" cy="153567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5"/>
              </a:spcBef>
            </a:pPr>
            <a:endParaRPr lang="en-IN" sz="2550">
              <a:solidFill>
                <a:schemeClr val="bg2">
                  <a:lumMod val="76000"/>
                </a:schemeClr>
              </a:solidFill>
              <a:latin typeface="Arial"/>
              <a:cs typeface="Arial"/>
            </a:endParaRPr>
          </a:p>
          <a:p>
            <a:pPr marL="6350" algn="ctr">
              <a:spcBef>
                <a:spcPts val="5"/>
              </a:spcBef>
            </a:pPr>
            <a:r>
              <a:rPr sz="2450" b="1" spc="-50">
                <a:solidFill>
                  <a:schemeClr val="tx1"/>
                </a:solidFill>
                <a:latin typeface="Arial"/>
                <a:cs typeface="Arial"/>
              </a:rPr>
              <a:t>Presenter</a:t>
            </a:r>
            <a:r>
              <a:rPr lang="en-US" sz="2450" b="1" spc="-5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50" b="1" spc="-50">
                <a:solidFill>
                  <a:schemeClr val="tx1"/>
                </a:solidFill>
                <a:latin typeface="Arial"/>
                <a:cs typeface="Arial"/>
              </a:rPr>
              <a:t>:</a:t>
            </a:r>
            <a:r>
              <a:rPr lang="en-US" sz="2450" b="1" spc="-60">
                <a:solidFill>
                  <a:schemeClr val="tx1"/>
                </a:solidFill>
                <a:latin typeface="Arial"/>
                <a:cs typeface="Arial"/>
              </a:rPr>
              <a:t> Deepanshu Singh</a:t>
            </a:r>
          </a:p>
          <a:p>
            <a:pPr marL="6350" algn="ctr">
              <a:spcBef>
                <a:spcPts val="5"/>
              </a:spcBef>
            </a:pPr>
            <a:r>
              <a:rPr lang="en-IN" sz="2450" b="1" spc="-10">
                <a:solidFill>
                  <a:schemeClr val="tx1"/>
                </a:solidFill>
                <a:latin typeface="Arial"/>
                <a:cs typeface="Arial"/>
              </a:rPr>
              <a:t>Roll no. : 23f3000048</a:t>
            </a:r>
            <a:endParaRPr lang="en-IN">
              <a:solidFill>
                <a:schemeClr val="tx1"/>
              </a:solidFill>
            </a:endParaRPr>
          </a:p>
          <a:p>
            <a:pPr marL="6350" algn="ctr">
              <a:lnSpc>
                <a:spcPct val="100000"/>
              </a:lnSpc>
              <a:spcBef>
                <a:spcPts val="5"/>
              </a:spcBef>
            </a:pPr>
            <a:endParaRPr lang="en-IN" sz="2450" spc="-10">
              <a:solidFill>
                <a:srgbClr val="485262"/>
              </a:solidFill>
              <a:latin typeface="Arial"/>
              <a:cs typeface="Arial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BF4068-3644-4997-773D-B5EDE1E2BE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06332" y="3799012"/>
            <a:ext cx="3266440" cy="329628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5DCAEC5-D3E2-39DC-A5C6-26EC571A9DE3}"/>
              </a:ext>
            </a:extLst>
          </p:cNvPr>
          <p:cNvSpPr txBox="1"/>
          <p:nvPr/>
        </p:nvSpPr>
        <p:spPr>
          <a:xfrm>
            <a:off x="7612224" y="7187596"/>
            <a:ext cx="419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/>
              <a:t>IITM Online BS Degree Program, Indian Institute of Technology, Madras, Chennai Tamil Nadu, India, 600036</a:t>
            </a:r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B1870091-97FC-CCC3-08C1-0FA6BD53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272" y="1003256"/>
            <a:ext cx="19175328" cy="1369606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/>
              <a:t>SUPERMARKET PERFORMANCE ANALYSIS</a:t>
            </a:r>
          </a:p>
          <a:p>
            <a:r>
              <a:rPr lang="en-US"/>
              <a:t>Data-Driven Recommendations for Profitability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9161" y="0"/>
            <a:ext cx="1130856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78816" y="2408027"/>
            <a:ext cx="5725282" cy="1362023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90AE0-53B1-9C74-D543-104D756B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58" y="1037707"/>
            <a:ext cx="15256416" cy="16765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Business Context</a:t>
            </a: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2905779"/>
            <a:ext cx="20104788" cy="8403571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60910-9F71-2CDF-880D-102C39B1D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060" y="4202304"/>
            <a:ext cx="8446964" cy="603344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>
                <a:ea typeface="+mj-lt"/>
                <a:cs typeface="+mj-lt"/>
              </a:rPr>
              <a:t>ABOUT MYANMAR SUPERMARKET GROUP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>
                <a:ea typeface="+mj-lt"/>
                <a:cs typeface="+mj-lt"/>
              </a:rPr>
              <a:t>• 3 branches: Yangon A, Yangon B, Naypyidaw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>
              <a:ea typeface="+mj-lt"/>
              <a:cs typeface="+mj-lt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>
                <a:ea typeface="+mj-lt"/>
                <a:cs typeface="+mj-lt"/>
              </a:rPr>
              <a:t>• 6 product categories: Food &amp; beverages, Sports &amp; travel,  Electronics, Fashion, Health &amp; beauty, Home &amp; garden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>
              <a:ea typeface="+mj-lt"/>
              <a:cs typeface="+mj-lt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>
                <a:ea typeface="+mj-lt"/>
                <a:cs typeface="+mj-lt"/>
              </a:rPr>
              <a:t>• 1,000 transactions analyzed (3 months)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>
              <a:ea typeface="+mj-lt"/>
              <a:cs typeface="+mj-lt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700">
                <a:ea typeface="+mj-lt"/>
                <a:cs typeface="+mj-lt"/>
              </a:rPr>
              <a:t>• Key metrics: Sales, Gross income, Customer rating,  Customer type (Normal vs Member)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ea typeface="+mj-lt"/>
                <a:cs typeface="+mj-lt"/>
              </a:rPr>
              <a:t>BUSINESS CHALLENGE: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endParaRPr lang="en-US" sz="1700">
              <a:ea typeface="+mj-lt"/>
              <a:cs typeface="+mj-lt"/>
            </a:endParaRPr>
          </a:p>
          <a:p>
            <a:pPr>
              <a:lnSpc>
                <a:spcPct val="90000"/>
              </a:lnSpc>
              <a:buNone/>
            </a:pPr>
            <a:r>
              <a:rPr lang="en-US" sz="1700">
                <a:ea typeface="+mj-lt"/>
                <a:cs typeface="+mj-lt"/>
              </a:rPr>
              <a:t>How to grow profitability while maintaining service quality 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ea typeface="+mj-lt"/>
                <a:cs typeface="+mj-lt"/>
              </a:rPr>
              <a:t>during peak hours</a:t>
            </a:r>
            <a:r>
              <a:rPr lang="en-US" sz="1700">
                <a:latin typeface="Century Gothic" panose="020B0502020202020204"/>
                <a:ea typeface="+mj-lt"/>
                <a:cs typeface="+mj-lt"/>
              </a:rPr>
              <a:t> </a:t>
            </a:r>
            <a:r>
              <a:rPr lang="en-US" sz="1700">
                <a:latin typeface="Arial"/>
                <a:ea typeface="+mj-lt"/>
                <a:cs typeface="+mj-lt"/>
              </a:rPr>
              <a:t>?</a:t>
            </a:r>
            <a:endParaRPr lang="en-US" sz="1700">
              <a:latin typeface="Arial"/>
              <a:cs typeface="Arial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sz="1700"/>
          </a:p>
        </p:txBody>
      </p:sp>
      <p:pic>
        <p:nvPicPr>
          <p:cNvPr id="13" name="Picture 12" descr="Abstract blurred background of department store">
            <a:extLst>
              <a:ext uri="{FF2B5EF4-FFF2-40B4-BE49-F238E27FC236}">
                <a16:creationId xmlns:a16="http://schemas.microsoft.com/office/drawing/2014/main" id="{2D821C9A-D3A2-1CE7-3916-4147C109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" b="15595"/>
          <a:stretch>
            <a:fillRect/>
          </a:stretch>
        </p:blipFill>
        <p:spPr>
          <a:xfrm>
            <a:off x="10045315" y="4689542"/>
            <a:ext cx="8989506" cy="506446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90607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78816" y="2408027"/>
            <a:ext cx="5725282" cy="1362023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2905779"/>
            <a:ext cx="20104788" cy="8403571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602FC-B2F2-59F4-16E4-886C2DA3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315" y="746565"/>
            <a:ext cx="14754091" cy="230957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Problem Statement &amp; Objectives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C547AC3-105C-5A54-E780-DDDD60165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15" y="3767258"/>
            <a:ext cx="14752473" cy="70452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endParaRPr lang="en-US" sz="1400" b="1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600" b="1" dirty="0">
                <a:ea typeface="+mj-lt"/>
                <a:cs typeface="+mj-lt"/>
              </a:rPr>
              <a:t>THREE BUSINESS PROBLEMS TO SOLVE:</a:t>
            </a:r>
            <a:endParaRPr lang="en-US" sz="1600" b="1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600" b="1" dirty="0"/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1600" b="1" dirty="0">
                <a:ea typeface="+mj-lt"/>
                <a:cs typeface="+mj-lt"/>
              </a:rPr>
              <a:t>1. Category Profitability</a:t>
            </a:r>
            <a:endParaRPr lang="en-US" sz="1600" b="1" dirty="0"/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1600" b="1" dirty="0">
                <a:ea typeface="+mj-lt"/>
                <a:cs typeface="+mj-lt"/>
              </a:rPr>
              <a:t>   Problem: Which product categories drive profit</a:t>
            </a:r>
            <a:r>
              <a:rPr lang="en-US" sz="1600" b="1" dirty="0">
                <a:latin typeface="Calibri"/>
                <a:ea typeface="+mj-lt"/>
                <a:cs typeface="+mj-lt"/>
              </a:rPr>
              <a:t>?</a:t>
            </a:r>
            <a:r>
              <a:rPr lang="en-US" sz="1600" b="1" dirty="0">
                <a:ea typeface="+mj-lt"/>
                <a:cs typeface="+mj-lt"/>
              </a:rPr>
              <a:t> How </a:t>
            </a:r>
            <a:endParaRPr lang="en-US" sz="1600" b="1" dirty="0"/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1600" b="1" dirty="0">
                <a:ea typeface="+mj-lt"/>
                <a:cs typeface="+mj-lt"/>
              </a:rPr>
              <a:t>   should we allocate inventory and shelf space</a:t>
            </a:r>
            <a:r>
              <a:rPr lang="en-US" sz="1600" b="1" dirty="0">
                <a:latin typeface="Calibri"/>
                <a:ea typeface="Calibri"/>
                <a:cs typeface="Calibri"/>
              </a:rPr>
              <a:t>?</a:t>
            </a:r>
            <a:r>
              <a:rPr lang="en-US" sz="1600" b="1" dirty="0">
                <a:ea typeface="+mj-lt"/>
                <a:cs typeface="+mj-lt"/>
              </a:rPr>
              <a:t> 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2. Operational Efficiency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   Problem: When is demand highest</a:t>
            </a:r>
            <a:r>
              <a:rPr lang="en-US" sz="1600" b="1" dirty="0">
                <a:latin typeface="Calibri"/>
                <a:ea typeface="Calibri"/>
                <a:cs typeface="Calibri"/>
              </a:rPr>
              <a:t>?</a:t>
            </a:r>
            <a:r>
              <a:rPr lang="en-US" sz="1600" b="1" dirty="0">
                <a:ea typeface="+mj-lt"/>
                <a:cs typeface="+mj-lt"/>
              </a:rPr>
              <a:t> How should we </a:t>
            </a:r>
            <a:endParaRPr lang="en-US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   staff and manage checkout during peak times</a:t>
            </a:r>
            <a:r>
              <a:rPr lang="en-US" sz="1600" b="1" dirty="0">
                <a:latin typeface="Calibri"/>
                <a:ea typeface="Calibri"/>
                <a:cs typeface="Calibri"/>
              </a:rPr>
              <a:t>?</a:t>
            </a:r>
            <a:r>
              <a:rPr lang="en-US" sz="1600" b="1" dirty="0">
                <a:ea typeface="+mj-lt"/>
                <a:cs typeface="+mj-lt"/>
              </a:rPr>
              <a:t> </a:t>
            </a:r>
            <a:endParaRPr lang="en-US" sz="1600" b="1" dirty="0"/>
          </a:p>
          <a:p>
            <a:pPr marL="0" indent="0">
              <a:lnSpc>
                <a:spcPct val="90000"/>
              </a:lnSpc>
              <a:buNone/>
            </a:pP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3. Customer Loyalty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   Problem: How do Members differ from Normal customers</a:t>
            </a:r>
            <a:r>
              <a:rPr lang="en-US" sz="1600" b="1" dirty="0">
                <a:latin typeface="Calibri"/>
                <a:ea typeface="Calibri"/>
                <a:cs typeface="Calibri"/>
              </a:rPr>
              <a:t>?</a:t>
            </a:r>
            <a:r>
              <a:rPr lang="en-US" sz="1600" b="1" dirty="0">
                <a:ea typeface="+mj-lt"/>
                <a:cs typeface="+mj-lt"/>
              </a:rPr>
              <a:t> 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   Should we prioritize loyalty conversion</a:t>
            </a:r>
            <a:r>
              <a:rPr lang="en-US" sz="1600" b="1" dirty="0">
                <a:latin typeface="Calibri"/>
                <a:ea typeface="Calibri"/>
                <a:cs typeface="Calibri"/>
              </a:rPr>
              <a:t>?</a:t>
            </a:r>
            <a:r>
              <a:rPr lang="en-US" sz="1600" b="1" dirty="0">
                <a:ea typeface="+mj-lt"/>
                <a:cs typeface="+mj-lt"/>
              </a:rPr>
              <a:t> 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endParaRPr lang="en-US" sz="1600" b="1" dirty="0">
              <a:ea typeface="+mj-lt"/>
              <a:cs typeface="+mj-lt"/>
            </a:endParaRPr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PROJECT OBJECTIVES: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→ Identify high-profit categories</a:t>
            </a:r>
            <a:endParaRPr lang="en-US" sz="1600" b="1" dirty="0"/>
          </a:p>
          <a:p>
            <a:pPr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→ Optimize staff allocation by hour</a:t>
            </a:r>
            <a:endParaRPr lang="en-US" sz="1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ea typeface="+mj-lt"/>
                <a:cs typeface="+mj-lt"/>
              </a:rPr>
              <a:t>→ Design loyalty conversion strategy</a:t>
            </a:r>
            <a:endParaRPr lang="en-US" sz="1600" b="1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10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10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049411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58812" y="0"/>
            <a:ext cx="922546" cy="6117474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8229804" cy="11309352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077DB-32FD-8796-76C9-93EB4AB6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005" y="2714244"/>
            <a:ext cx="5809081" cy="7372715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Data Overview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6B9A5-97AD-773C-516F-95DD2979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358" y="2714244"/>
            <a:ext cx="9761014" cy="73727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DATA QUALITY &amp; STRUCTURE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Dataset: SuperMarket-Analysis.csv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 1,000 transactions (100% complete, zero missing values)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 16 features: Invoice ID, Branch, Date, Time, Customer type,   Gender, Product line, Unit price, Quantity, Tax, Sales, COGS, Gross income, Payment method, Rating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DATA CLEANING: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 Verified financial identity: Sales = (Unit Price × Quantity) × (1 + Tax%)</a:t>
            </a: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No outliers or invalid entries</a:t>
            </a: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Date range: 3 months of balanced daily transactions</a:t>
            </a: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Rating scale: 1–10 (no anomalies)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FEATURE ENGINEERING:</a:t>
            </a: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 Hour extracted from Time (e.g., 13:08 → Hour 13)</a:t>
            </a:r>
            <a:endParaRPr lang="en-US" sz="1800" dirty="0"/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Weekday extracted from Date (Monday–Sunday)</a:t>
            </a: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ea typeface="+mj-lt"/>
                <a:cs typeface="+mj-lt"/>
              </a:rPr>
              <a:t>Customer segments created (Normal vs Member)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5640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70719-1627-0B32-E7BC-77ED6B6B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60" y="1037706"/>
            <a:ext cx="6870401" cy="26753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ea typeface="+mj-lt"/>
                <a:cs typeface="+mj-lt"/>
              </a:rPr>
              <a:t>Analysis Methods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34930" y="-1"/>
            <a:ext cx="922546" cy="6117473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8690964" y="-104477"/>
            <a:ext cx="11309352" cy="11518304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08C9E3DD-4998-5070-4FFC-CB34C82E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36" r="19030" b="-3"/>
          <a:stretch>
            <a:fillRect/>
          </a:stretch>
        </p:blipFill>
        <p:spPr>
          <a:xfrm>
            <a:off x="11227869" y="1068101"/>
            <a:ext cx="6628378" cy="9173142"/>
          </a:xfrm>
          <a:prstGeom prst="rect">
            <a:avLst/>
          </a:prstGeom>
          <a:effectLst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9161" y="0"/>
            <a:ext cx="1130856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59013-01A1-56FD-2A76-689F089F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990" y="2074338"/>
            <a:ext cx="6870399" cy="708887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en-US" sz="1300">
              <a:solidFill>
                <a:srgbClr val="EBEBEB"/>
              </a:solidFill>
              <a:ea typeface="+mj-lt"/>
              <a:cs typeface="+mj-lt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APPROACH &amp; TECHNIQUES USED</a:t>
            </a:r>
            <a:endParaRPr lang="en-US" sz="1800" dirty="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1. DESCRIPTIVE ANALYSIS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Group-by aggregation: category revenue, hourly sales, 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   customer AOV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Ranking: sorted categories by profit to identify 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   top performers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Statistical measures: mean, sum, count</a:t>
            </a:r>
            <a:endParaRPr lang="en-US" sz="1800" dirty="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2. SEGMENTATION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By Product line (6 categories)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By Hour (10–21, peak at 19:00)</a:t>
            </a:r>
            <a:endParaRPr lang="en-US" sz="1800" dirty="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By Customer type (Normal vs Member)</a:t>
            </a:r>
            <a:endParaRPr lang="en-US" sz="1800" dirty="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3. KEY METRICS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Revenue (Sales) = ∑ invoice sales by category/hour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Gross Income = ∑ profit by category/hour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Average Order Value (AOV) = avg sales per transaction</a:t>
            </a:r>
            <a:endParaRPr lang="en-US" sz="1800" dirty="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EBEBEB"/>
                </a:solidFill>
                <a:ea typeface="+mj-lt"/>
                <a:cs typeface="+mj-lt"/>
              </a:rPr>
              <a:t>   • Rating = avg customer satisfaction by hour</a:t>
            </a:r>
            <a:endParaRPr lang="en-US" sz="1800" dirty="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30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300">
              <a:solidFill>
                <a:srgbClr val="EBEBEB"/>
              </a:solidFill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sz="1300">
              <a:solidFill>
                <a:srgbClr val="EBEBEB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30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313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58812" y="0"/>
            <a:ext cx="922546" cy="6117474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8229804" cy="11309352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EAC42-8AA0-F71D-2A27-9A065BC4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005" y="2714244"/>
            <a:ext cx="5809081" cy="7372715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Key Findings — Executive Summary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266B782-A847-FABD-1FD9-3F95CBA6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358" y="2714244"/>
            <a:ext cx="9761014" cy="737271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FINDINGS AT A GLANCE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 Top 3 categories (Food &amp; beverages, Sports &amp; travel, 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Electronics) contribute 51% of total revenue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Peak hour is 19:00 → 12% of daily revenue in 1 hour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BUT customer rating drops from 7.0 to 6.7 at peak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Members spend 29 more per transaction than Normal 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customers (Member AOV = 335.74 vs Normal = 306.37)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Health &amp; beauty category is underperforming in profit 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despite decent sales → needs intervention</a:t>
            </a: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Evening (18:00–21:00) consistently shows higher stress 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(queue, lower ratings) → staffing is critical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7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EA0F-FA5F-30D6-8A52-33C88D4D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410" y="1005277"/>
            <a:ext cx="7904237" cy="276380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Category Profitability Analysis</a:t>
            </a: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2426D29-7C99-8B40-E362-9D924936D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4"/>
          <a:stretch>
            <a:fillRect/>
          </a:stretch>
        </p:blipFill>
        <p:spPr>
          <a:xfrm>
            <a:off x="10049431" y="1004512"/>
            <a:ext cx="8986638" cy="456181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AC546BE4-C7A3-4A47-9FA5-0866D5E65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7" name="Content Placeholder 42">
            <a:extLst>
              <a:ext uri="{FF2B5EF4-FFF2-40B4-BE49-F238E27FC236}">
                <a16:creationId xmlns:a16="http://schemas.microsoft.com/office/drawing/2014/main" id="{C065E307-2A78-4CF6-EDA7-87E3A816D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919" y="1886135"/>
            <a:ext cx="7913590" cy="84179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FINDING 1: WHICH CATEGORIES DRIVE PROFIT?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Top performers (by revenue &amp; gross income):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1. Food &amp; beverages: 56,144 revenue, highest GI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2. Sports &amp; travel: 55,122 revenue, stable GI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3. Electronics: 54,337 revenue, good margins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Underperformers: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Health &amp; beauty: Only 49,193 revenue, lowest GI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Home &amp; garden: 52,641 revenue, inconsistent GI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IMPLICATION: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Top 3 categories are the bread-and-butter. Health &amp; beauty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needs product mix review or pricing strategy change.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DE1E9-9B5D-7E07-3A25-56F8666E65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64"/>
          <a:stretch>
            <a:fillRect/>
          </a:stretch>
        </p:blipFill>
        <p:spPr>
          <a:xfrm>
            <a:off x="10049431" y="5742254"/>
            <a:ext cx="8986638" cy="456181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784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93D5-62B0-100B-AD85-768FD5F0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411" y="746565"/>
            <a:ext cx="6868868" cy="2309578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Operational Efficiency — Peak Hour Analysis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8690964" y="-104477"/>
            <a:ext cx="11309352" cy="11518304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34930" y="-1"/>
            <a:ext cx="922546" cy="6117473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0C9EEE-E02F-765F-36C2-9EFA62A6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428" y="1090283"/>
            <a:ext cx="8985950" cy="438065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9161" y="0"/>
            <a:ext cx="1130856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146C8C6-12B7-AAC9-E643-270AF6EC5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413" y="2416733"/>
            <a:ext cx="6868152" cy="69186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j-lt"/>
                <a:cs typeface="+mj-lt"/>
              </a:rPr>
              <a:t>FINDING 2: WHEN IS DEMAND HIGHEST?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HOW SHOULD WE STAFF</a:t>
            </a:r>
            <a:r>
              <a:rPr lang="en-US" dirty="0">
                <a:latin typeface="Calibri"/>
                <a:ea typeface="+mj-lt"/>
                <a:cs typeface="+mj-lt"/>
              </a:rPr>
              <a:t>?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Peak Hour Insight: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Sales are flat until 18:00, then spike at 19:00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19:00 hour = 12% of total daily revenue (highest 1-hour </a:t>
            </a: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  window)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After 20:00, sales drop again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SERVICE QUALITY STRESS: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Customer rating drops from 7.2 (morning) to 6.7 at 19:00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• Indicates: long queues, slow checkout, staff overload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DECISION: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Extra staff (2 cashiers) should be scheduled for 18:00–20:00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only, not all day. This saves labor cost and focuses effort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where it matters.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78955-8D58-A36B-66B9-71DB41429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428" y="5869828"/>
            <a:ext cx="8985950" cy="438065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0480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D7592-A066-A566-D25C-21D3E867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058" y="1037706"/>
            <a:ext cx="9260908" cy="267532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ea typeface="+mj-lt"/>
                <a:cs typeface="+mj-lt"/>
              </a:rPr>
              <a:t>Loyalty &amp; Customer Segmentation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35522" y="-1"/>
            <a:ext cx="922546" cy="6117473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891261" y="1095820"/>
            <a:ext cx="11309352" cy="9117712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02E632-94EE-3314-28E3-91DAC1D8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295" y="3062253"/>
            <a:ext cx="6563083" cy="5184837"/>
          </a:xfrm>
          <a:prstGeom prst="rect">
            <a:avLst/>
          </a:prstGeom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9161" y="0"/>
            <a:ext cx="1130856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879BDA-4ED2-24CB-C7ED-79CE6EC41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060" y="4021102"/>
            <a:ext cx="9260906" cy="62424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FINDING 3: MEMBER vs NORMAL CUSTOMER VALUE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AOV Comparison: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Member AOV: 335.74 (average order value)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Normal AOV: 306.37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Gap: +29 per Member transaction (9.5% higher)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LIFETIME VALUE IMPLICATION: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If a customer shops 10 times/month: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Normal: 306.37 × 10 = 3,063.70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Member: 335.74 × 10 = 3,357.40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• Difference: +294 per month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RECOMMENDATION: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Convert Normal customers to Members via: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✓ New member discount (10% off first purchase)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✓ Loyalty points (1 point = 1 rupee)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✓ Member-only promotions on top categories</a:t>
            </a:r>
            <a:endParaRPr lang="en-US" sz="1400" b="1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F7F7F7"/>
              </a:buClr>
            </a:pPr>
            <a:r>
              <a:rPr lang="en-US" sz="1400" b="1">
                <a:solidFill>
                  <a:srgbClr val="FFFFFF"/>
                </a:solidFill>
                <a:ea typeface="+mj-lt"/>
                <a:cs typeface="+mj-lt"/>
              </a:rPr>
              <a:t>✓ Target: Convert 20% of Normals in 6 months</a:t>
            </a:r>
            <a:endParaRPr 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44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58812" y="0"/>
            <a:ext cx="922546" cy="6117474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8229804" cy="11309352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C1A80-BD77-432B-27D9-D61E09B4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005" y="2714244"/>
            <a:ext cx="5809081" cy="7372715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  <a:ea typeface="+mj-lt"/>
                <a:cs typeface="+mj-lt"/>
              </a:rPr>
              <a:t>Recommendations &amp; Success Metrics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FE6B-8A61-24C0-09C5-EE7C8583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1358" y="1107580"/>
            <a:ext cx="10338036" cy="897937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ea typeface="+mj-lt"/>
                <a:cs typeface="+mj-lt"/>
              </a:rPr>
              <a:t>ACTIONABLE RECOMMENDATIONS WITH KPI TARGETS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RECOMMENDATION 1: Category Assortment &amp; Inventory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Action: Protect top-3 categories with +15% shelf space &amp; stock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Metric: Top-3 category GI: 2,695 → 3,100 (target +15%)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Timeline: 1 month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RECOMMENDATION 2: Peak-Hour Operations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Action: Add 2 cashiers + 1 express lane (QR checkout) 18:00–20:00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Metric: Rating at 19:00: 6.7 → 8.0 (target 8+)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Timeline: 2 weeks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RECOMMENDATION 3: Loyalty Conversion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Action: Launch "New Member" offer (10% first purchase) </a:t>
            </a:r>
            <a:endParaRPr lang="en-US" sz="1800" dirty="0"/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1800" dirty="0">
                <a:ea typeface="+mj-lt"/>
                <a:cs typeface="+mj-lt"/>
              </a:rPr>
              <a:t>      + tier rewards (Silver/Gold)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Metric: </a:t>
            </a:r>
            <a:r>
              <a:rPr lang="en-US" sz="1800" err="1">
                <a:ea typeface="+mj-lt"/>
                <a:cs typeface="+mj-lt"/>
              </a:rPr>
              <a:t>Normal→Member</a:t>
            </a:r>
            <a:r>
              <a:rPr lang="en-US" sz="1800" dirty="0">
                <a:ea typeface="+mj-lt"/>
                <a:cs typeface="+mj-lt"/>
              </a:rPr>
              <a:t> conversion: 0% → 20% (target in 6 months)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Timeline: Immediate rollout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SUCCESS FRAMEWORK: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sz="1800" dirty="0">
                <a:ea typeface="+mj-lt"/>
                <a:cs typeface="+mj-lt"/>
              </a:rPr>
              <a:t>✓ All recommendations are data-backed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601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402508"/>
            <a:ext cx="6656864" cy="69068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769694"/>
            <a:ext cx="2510393" cy="3900807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95902" y="2764507"/>
            <a:ext cx="4649073" cy="464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3190697" y="0"/>
            <a:ext cx="2643918" cy="18822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4190734" y="10052755"/>
            <a:ext cx="1638626" cy="1256595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11517" y="0"/>
            <a:ext cx="1130855" cy="1884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"/>
            <a:ext cx="20103597" cy="78013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78816" y="6190121"/>
            <a:ext cx="5725282" cy="1362023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87874"/>
            <a:ext cx="20104100" cy="4621476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B564C-984E-4B6A-899B-7DDD788E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077" y="1028314"/>
            <a:ext cx="16919945" cy="58111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0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                                     </a:t>
            </a:r>
            <a:br>
              <a:rPr lang="en-US" sz="10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0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             Thank You </a:t>
            </a:r>
          </a:p>
        </p:txBody>
      </p:sp>
    </p:spTree>
    <p:extLst>
      <p:ext uri="{BB962C8B-B14F-4D97-AF65-F5344CB8AC3E}">
        <p14:creationId xmlns:p14="http://schemas.microsoft.com/office/powerpoint/2010/main" val="3215088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SUPERMARKET PERFORMANCE ANALYSIS Data-Driven Recommendations for Profitability &amp; Operations</vt:lpstr>
      <vt:lpstr>Business Context</vt:lpstr>
      <vt:lpstr>Problem Statement &amp; Objectives</vt:lpstr>
      <vt:lpstr>Data Overview</vt:lpstr>
      <vt:lpstr>Analysis Methods</vt:lpstr>
      <vt:lpstr>Key Findings — Executive Summary</vt:lpstr>
      <vt:lpstr>Category Profitability Analysis</vt:lpstr>
      <vt:lpstr>Operational Efficiency — Peak Hour Analysis</vt:lpstr>
      <vt:lpstr>Loyalty &amp; Customer Segmentation</vt:lpstr>
      <vt:lpstr>Recommendations &amp; Success Metrics</vt:lpstr>
      <vt:lpstr>                                                      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113</cp:revision>
  <dcterms:created xsi:type="dcterms:W3CDTF">2025-11-17T12:16:01Z</dcterms:created>
  <dcterms:modified xsi:type="dcterms:W3CDTF">2025-12-16T14:42:50Z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LastSaved">
    <vt:filetime>2025-11-17T00:00:00Z</vt:filetime>
  </property>
</Properties>
</file>